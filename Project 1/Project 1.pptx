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Urbanist Medium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562EA4-536A-4648-9349-CFE9C124C3F5}">
  <a:tblStyle styleId="{6B562EA4-536A-4648-9349-CFE9C124C3F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33" Type="http://schemas.openxmlformats.org/officeDocument/2006/relationships/font" Target="fonts/PoppinsSemiBold-boldItalic.fntdata"/><Relationship Id="rId32" Type="http://schemas.openxmlformats.org/officeDocument/2006/relationships/font" Target="fonts/PoppinsSemiBold-italic.fntdata"/><Relationship Id="rId20" Type="http://schemas.openxmlformats.org/officeDocument/2006/relationships/font" Target="fonts/Poppins-italic.fntdata"/><Relationship Id="rId22" Type="http://schemas.openxmlformats.org/officeDocument/2006/relationships/font" Target="fonts/UrbanistMedium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26" Type="http://schemas.openxmlformats.org/officeDocument/2006/relationships/font" Target="fonts/Urbanist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29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56b11371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56b11371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376dd1a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d376dd1a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376dd1aa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d376dd1aa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d376dd1aa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d376dd1a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376dd1aa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d376dd1aa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376dd1aa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d376dd1aa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d376dd1aa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d376dd1aa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376dd1aa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d376dd1a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d376dd1aa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d376dd1aa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d376dd1aa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d376dd1aa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d376dd1aa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d376dd1aa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idx="4294967295" type="title"/>
          </p:nvPr>
        </p:nvSpPr>
        <p:spPr>
          <a:xfrm>
            <a:off x="331500" y="0"/>
            <a:ext cx="8263800" cy="444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GTSRB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German Traffic Sign Recognition Benchmark</a:t>
            </a: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Comparison Report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Comparing KNN, SVM, Custom CNN, and ResNet-50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Traffic Sign Classification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282A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4" name="Google Shape;574;p54"/>
          <p:cNvSpPr txBox="1"/>
          <p:nvPr/>
        </p:nvSpPr>
        <p:spPr>
          <a:xfrm>
            <a:off x="5409650" y="4616100"/>
            <a:ext cx="364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82A2C"/>
                </a:solidFill>
                <a:latin typeface="Urbanist"/>
                <a:ea typeface="Urbanist"/>
                <a:cs typeface="Urbanist"/>
                <a:sym typeface="Urbanist"/>
              </a:rPr>
              <a:t>Kareem Abdelrehiem, Samuel Cordova</a:t>
            </a:r>
            <a:endParaRPr b="1" sz="1500">
              <a:solidFill>
                <a:srgbClr val="282A2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75" name="Google Shape;57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054000"/>
            <a:ext cx="7315349" cy="239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5"/>
          <p:cNvSpPr txBox="1"/>
          <p:nvPr/>
        </p:nvSpPr>
        <p:spPr>
          <a:xfrm>
            <a:off x="152400" y="152400"/>
            <a:ext cx="8816400" cy="4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5276"/>
                </a:solidFill>
              </a:rPr>
              <a:t>1. Project Introduction and Goals</a:t>
            </a:r>
            <a:endParaRPr b="1" sz="1800">
              <a:solidFill>
                <a:srgbClr val="1A52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This project presents a comprehensive comparison of four machine learning algorithms applied to the German Traffic Sign Recognition Benchmark (GTSRB) dataset. Traffic sign recognition is a critical component of autonomous driving systems and advanced driver-assistance systems (ADAS), making it a highly relevant real-world classification challenge.</a:t>
            </a:r>
            <a:endParaRPr b="1"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C3E50"/>
                </a:solidFill>
              </a:rPr>
              <a:t>The primary goals of this analysis are:</a:t>
            </a:r>
            <a:endParaRPr b="1" sz="13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/>
              <a:t>•</a:t>
            </a:r>
            <a:r>
              <a:rPr b="1" lang="en" sz="7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100">
                <a:solidFill>
                  <a:srgbClr val="2C3E50"/>
                </a:solidFill>
              </a:rPr>
              <a:t>Evaluate and compare the performance of two traditional machine learning models (KNN and SVM) against two deep learning architectures (CNN and a pre-trained ResNet-50).</a:t>
            </a:r>
            <a:endParaRPr b="1" sz="11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100"/>
              <a:t>•</a:t>
            </a:r>
            <a:r>
              <a:rPr b="1" lang="en" sz="7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100">
                <a:solidFill>
                  <a:srgbClr val="2C3E50"/>
                </a:solidFill>
              </a:rPr>
              <a:t>Perform hyperparameter tuning for each model using grid search or manual configuration search to find optimal settings.</a:t>
            </a:r>
            <a:endParaRPr b="1" sz="11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100"/>
              <a:t>•</a:t>
            </a:r>
            <a:r>
              <a:rPr b="1" lang="en" sz="7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100">
                <a:solidFill>
                  <a:srgbClr val="2C3E50"/>
                </a:solidFill>
              </a:rPr>
              <a:t>Assess models on standard classification metrics: Accuracy, Precision, Recall, and F1-Score.</a:t>
            </a:r>
            <a:endParaRPr b="1" sz="11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100"/>
              <a:t>•</a:t>
            </a:r>
            <a:r>
              <a:rPr b="1" lang="en" sz="7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100">
                <a:solidFill>
                  <a:srgbClr val="2C3E50"/>
                </a:solidFill>
              </a:rPr>
              <a:t>Compare training time efficiency alongside classification performance.</a:t>
            </a:r>
            <a:endParaRPr b="1" sz="11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100"/>
              <a:t>•</a:t>
            </a:r>
            <a:r>
              <a:rPr b="1" lang="en" sz="7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100">
                <a:solidFill>
                  <a:srgbClr val="2C3E50"/>
                </a:solidFill>
              </a:rPr>
              <a:t>Determine which approach offers the best trade-off between accuracy and computational cost for this image classification task.</a:t>
            </a:r>
            <a:endParaRPr b="1" sz="1100">
              <a:solidFill>
                <a:srgbClr val="2C3E5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5" name="Google Shape;585;p56"/>
          <p:cNvGraphicFramePr/>
          <p:nvPr/>
        </p:nvGraphicFramePr>
        <p:xfrm>
          <a:off x="1292400" y="118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{6B562EA4-536A-4648-9349-CFE9C124C3F5}</a:tableStyleId>
              </a:tblPr>
              <a:tblGrid>
                <a:gridCol w="2266950"/>
                <a:gridCol w="36671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 Training Images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39,209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Total Test Images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12,630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Number of Classes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43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Image Size (resized)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32 × 32 × 3 (RGB)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Class Examples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Speed limits, stop signs, yield, priority, no entry, etc.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86" name="Google Shape;586;p56"/>
          <p:cNvSpPr txBox="1"/>
          <p:nvPr/>
        </p:nvSpPr>
        <p:spPr>
          <a:xfrm>
            <a:off x="0" y="0"/>
            <a:ext cx="91440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5276"/>
                </a:solidFill>
              </a:rPr>
              <a:t>2. Dataset Description</a:t>
            </a:r>
            <a:endParaRPr b="1" sz="1800">
              <a:solidFill>
                <a:srgbClr val="1A52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The German Traffic Sign Recognition Benchmark (GTSRB) is a widely used, large-scale, multi-class image classification dataset. It features photographs of German traffic signs taken in varied real-world conditions (lighting, weather, occlusion, and viewing angles).</a:t>
            </a:r>
            <a:endParaRPr b="1" sz="1100">
              <a:solidFill>
                <a:srgbClr val="2C3E50"/>
              </a:solidFill>
            </a:endParaRPr>
          </a:p>
        </p:txBody>
      </p:sp>
      <p:sp>
        <p:nvSpPr>
          <p:cNvPr id="587" name="Google Shape;587;p56"/>
          <p:cNvSpPr txBox="1"/>
          <p:nvPr/>
        </p:nvSpPr>
        <p:spPr>
          <a:xfrm>
            <a:off x="0" y="2857100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The target variable is the traffic sign class label (0-42, 43 categories). The task is classification. Challenges include high inter-class similarity, significant intra-class variation, and class imbalance.</a:t>
            </a:r>
            <a:endParaRPr/>
          </a:p>
        </p:txBody>
      </p:sp>
      <p:pic>
        <p:nvPicPr>
          <p:cNvPr id="588" name="Google Shape;58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400" y="3342100"/>
            <a:ext cx="6274950" cy="17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" name="Google Shape;593;p57"/>
          <p:cNvGraphicFramePr/>
          <p:nvPr/>
        </p:nvGraphicFramePr>
        <p:xfrm>
          <a:off x="254688" y="196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{6B562EA4-536A-4648-9349-CFE9C124C3F5}</a:tableStyleId>
              </a:tblPr>
              <a:tblGrid>
                <a:gridCol w="1995025"/>
                <a:gridCol w="2250550"/>
                <a:gridCol w="1877100"/>
              </a:tblGrid>
              <a:tr h="286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Hyperparameter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Values Searched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Best Value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n_neighbors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1, 3, 5, 7, 9, 11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weights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uniform, distance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uniform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metric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euclidean, manhattan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manhattan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94" name="Google Shape;594;p57"/>
          <p:cNvSpPr txBox="1"/>
          <p:nvPr/>
        </p:nvSpPr>
        <p:spPr>
          <a:xfrm>
            <a:off x="19500" y="0"/>
            <a:ext cx="9062700" cy="18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5276"/>
                </a:solidFill>
              </a:rPr>
              <a:t>3. Model Implementation</a:t>
            </a:r>
            <a:endParaRPr b="1" sz="1800">
              <a:solidFill>
                <a:srgbClr val="1A52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C3E50"/>
                </a:solidFill>
              </a:rPr>
              <a:t>Four models were implemented and evaluated. For traditional ML models (KNN and SVM), images were flattened to 1-D vectors of 3,072 features (32×32×3) and standardized using StandardScaler. For deep learning models (CNN and ResNet-50), images were kept in their original 4-D tensor format and normalized to [0, 1].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5276"/>
                </a:solidFill>
              </a:rPr>
              <a:t>3.1 K-Nearest Neighbours (KNN)</a:t>
            </a:r>
            <a:endParaRPr b="1">
              <a:solidFill>
                <a:srgbClr val="1A52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Tuning Strategy: </a:t>
            </a:r>
            <a:r>
              <a:rPr lang="en" sz="1100">
                <a:solidFill>
                  <a:srgbClr val="2C3E50"/>
                </a:solidFill>
              </a:rPr>
              <a:t>GridSearchCV with 3-fold stratified cross-validation over 24 candidate configurations.</a:t>
            </a:r>
            <a:endParaRPr sz="1100">
              <a:solidFill>
                <a:srgbClr val="2C3E50"/>
              </a:solidFill>
            </a:endParaRPr>
          </a:p>
        </p:txBody>
      </p:sp>
      <p:sp>
        <p:nvSpPr>
          <p:cNvPr id="595" name="Google Shape;595;p57"/>
          <p:cNvSpPr txBox="1"/>
          <p:nvPr/>
        </p:nvSpPr>
        <p:spPr>
          <a:xfrm>
            <a:off x="6621875" y="1949600"/>
            <a:ext cx="2192100" cy="13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Best CV Accuracy: </a:t>
            </a:r>
            <a:r>
              <a:rPr lang="en" sz="1100">
                <a:solidFill>
                  <a:srgbClr val="2C3E50"/>
                </a:solidFill>
              </a:rPr>
              <a:t>0.6974 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Test Accuracy: </a:t>
            </a:r>
            <a:r>
              <a:rPr lang="en" sz="1100">
                <a:solidFill>
                  <a:srgbClr val="2C3E50"/>
                </a:solidFill>
              </a:rPr>
              <a:t>0.3378 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F1-Score: </a:t>
            </a:r>
            <a:r>
              <a:rPr lang="en" sz="1100">
                <a:solidFill>
                  <a:srgbClr val="2C3E50"/>
                </a:solidFill>
              </a:rPr>
              <a:t>0.3446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Training Time: </a:t>
            </a:r>
            <a:r>
              <a:rPr lang="en" sz="1100">
                <a:solidFill>
                  <a:srgbClr val="2C3E50"/>
                </a:solidFill>
              </a:rPr>
              <a:t>95.3 seconds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96" name="Google Shape;59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50" y="3248300"/>
            <a:ext cx="2683250" cy="187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7524" y="3314850"/>
            <a:ext cx="2231250" cy="1784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2" name="Google Shape;602;p58"/>
          <p:cNvGraphicFramePr/>
          <p:nvPr/>
        </p:nvGraphicFramePr>
        <p:xfrm>
          <a:off x="233100" y="91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{6B562EA4-536A-4648-9349-CFE9C124C3F5}</a:tableStyleId>
              </a:tblPr>
              <a:tblGrid>
                <a:gridCol w="1981425"/>
                <a:gridCol w="2233975"/>
                <a:gridCol w="1835725"/>
              </a:tblGrid>
              <a:tr h="270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Hyperparameter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Values Searched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Best Value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</a:tr>
              <a:tr h="27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0.1, 1, 10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27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gamma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scale, auto, 0.01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scale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kernel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rbf, poly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rbf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03" name="Google Shape;603;p58"/>
          <p:cNvSpPr txBox="1"/>
          <p:nvPr/>
        </p:nvSpPr>
        <p:spPr>
          <a:xfrm>
            <a:off x="0" y="0"/>
            <a:ext cx="6951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5276"/>
                </a:solidFill>
              </a:rPr>
              <a:t>3.2 Support Vector Machine (SVM)</a:t>
            </a:r>
            <a:endParaRPr b="1">
              <a:solidFill>
                <a:srgbClr val="1A52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Tuning Strategy: </a:t>
            </a:r>
            <a:r>
              <a:rPr lang="en" sz="1100">
                <a:solidFill>
                  <a:srgbClr val="2C3E50"/>
                </a:solidFill>
              </a:rPr>
              <a:t>GridSearchCV with 3-fold stratified cross-validation over 18 candidate configurations.</a:t>
            </a:r>
            <a:endParaRPr sz="1100">
              <a:solidFill>
                <a:srgbClr val="2C3E50"/>
              </a:solidFill>
            </a:endParaRPr>
          </a:p>
        </p:txBody>
      </p:sp>
      <p:sp>
        <p:nvSpPr>
          <p:cNvPr id="604" name="Google Shape;604;p58"/>
          <p:cNvSpPr txBox="1"/>
          <p:nvPr/>
        </p:nvSpPr>
        <p:spPr>
          <a:xfrm>
            <a:off x="6424775" y="939300"/>
            <a:ext cx="2086500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Best CV Accuracy: </a:t>
            </a:r>
            <a:r>
              <a:rPr lang="en" sz="1100">
                <a:solidFill>
                  <a:srgbClr val="2C3E50"/>
                </a:solidFill>
              </a:rPr>
              <a:t>0.7866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Test Accuracy: </a:t>
            </a:r>
            <a:r>
              <a:rPr lang="en" sz="1100">
                <a:solidFill>
                  <a:srgbClr val="2C3E50"/>
                </a:solidFill>
              </a:rPr>
              <a:t>0.6554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F1-Score: </a:t>
            </a:r>
            <a:r>
              <a:rPr lang="en" sz="1100">
                <a:solidFill>
                  <a:srgbClr val="2C3E50"/>
                </a:solidFill>
              </a:rPr>
              <a:t>0.6465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Training Time: </a:t>
            </a:r>
            <a:r>
              <a:rPr lang="en" sz="1100">
                <a:solidFill>
                  <a:srgbClr val="2C3E50"/>
                </a:solidFill>
              </a:rPr>
              <a:t>444.9 seconds</a:t>
            </a:r>
            <a:endParaRPr/>
          </a:p>
        </p:txBody>
      </p:sp>
      <p:pic>
        <p:nvPicPr>
          <p:cNvPr id="605" name="Google Shape;6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00" y="2332088"/>
            <a:ext cx="3218899" cy="257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0974" y="2409988"/>
            <a:ext cx="4178879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1" name="Google Shape;611;p59"/>
          <p:cNvGraphicFramePr/>
          <p:nvPr/>
        </p:nvGraphicFramePr>
        <p:xfrm>
          <a:off x="228600" y="110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{6B562EA4-536A-4648-9349-CFE9C124C3F5}</a:tableStyleId>
              </a:tblPr>
              <a:tblGrid>
                <a:gridCol w="1943100"/>
                <a:gridCol w="2190750"/>
                <a:gridCol w="18002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Hyperparameter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Values Searched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Best Value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learning_rate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1e-3, 5e-4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5e-4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dropout_rate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0.3, 0.5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epochs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12" name="Google Shape;612;p59"/>
          <p:cNvSpPr txBox="1"/>
          <p:nvPr/>
        </p:nvSpPr>
        <p:spPr>
          <a:xfrm>
            <a:off x="0" y="14825"/>
            <a:ext cx="90969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5276"/>
                </a:solidFill>
              </a:rPr>
              <a:t>3.3 Custom Convolutional Neural Network (CNN)</a:t>
            </a:r>
            <a:endParaRPr b="1">
              <a:solidFill>
                <a:srgbClr val="1A52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Tuning Strategy: </a:t>
            </a:r>
            <a:r>
              <a:rPr lang="en" sz="1100">
                <a:solidFill>
                  <a:srgbClr val="2C3E50"/>
                </a:solidFill>
              </a:rPr>
              <a:t>Manual search over learning rate and dropout rate combinations with data augmentation (random flip, rotation, zoom, brightness jitter).</a:t>
            </a:r>
            <a:endParaRPr sz="1100">
              <a:solidFill>
                <a:srgbClr val="2C3E50"/>
              </a:solidFill>
            </a:endParaRPr>
          </a:p>
        </p:txBody>
      </p:sp>
      <p:sp>
        <p:nvSpPr>
          <p:cNvPr id="613" name="Google Shape;613;p59"/>
          <p:cNvSpPr txBox="1"/>
          <p:nvPr/>
        </p:nvSpPr>
        <p:spPr>
          <a:xfrm>
            <a:off x="6536450" y="1151400"/>
            <a:ext cx="22236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C3E50"/>
                </a:solidFill>
              </a:rPr>
              <a:t>Test Accuracy: </a:t>
            </a:r>
            <a:r>
              <a:rPr lang="en" sz="1200">
                <a:solidFill>
                  <a:srgbClr val="2C3E50"/>
                </a:solidFill>
              </a:rPr>
              <a:t>0.9266</a:t>
            </a:r>
            <a:endParaRPr sz="12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C3E50"/>
                </a:solidFill>
              </a:rPr>
              <a:t>F1-Score: </a:t>
            </a:r>
            <a:r>
              <a:rPr lang="en" sz="1200">
                <a:solidFill>
                  <a:srgbClr val="2C3E50"/>
                </a:solidFill>
              </a:rPr>
              <a:t>0.9266</a:t>
            </a:r>
            <a:endParaRPr sz="12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200">
                <a:solidFill>
                  <a:srgbClr val="2C3E50"/>
                </a:solidFill>
              </a:rPr>
              <a:t>Training Time: </a:t>
            </a:r>
            <a:r>
              <a:rPr lang="en" sz="1200">
                <a:solidFill>
                  <a:srgbClr val="2C3E50"/>
                </a:solidFill>
              </a:rPr>
              <a:t>71.6 seconds</a:t>
            </a:r>
            <a:endParaRPr sz="1500"/>
          </a:p>
        </p:txBody>
      </p:sp>
      <p:pic>
        <p:nvPicPr>
          <p:cNvPr id="614" name="Google Shape;61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51625"/>
            <a:ext cx="8826424" cy="267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9" name="Google Shape;619;p60"/>
          <p:cNvGraphicFramePr/>
          <p:nvPr/>
        </p:nvGraphicFramePr>
        <p:xfrm>
          <a:off x="216800" y="101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{6B562EA4-536A-4648-9349-CFE9C124C3F5}</a:tableStyleId>
              </a:tblPr>
              <a:tblGrid>
                <a:gridCol w="2006975"/>
                <a:gridCol w="2262775"/>
                <a:gridCol w="1859400"/>
              </a:tblGrid>
              <a:tr h="277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Hyperparameter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Values Searched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Best Value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</a:tr>
              <a:tr h="27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dense_units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128, 256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256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27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dropout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0.3, 0.5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learning_rate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1e-3, 5e-4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5e-4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27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epochs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0" name="Google Shape;620;p60"/>
          <p:cNvSpPr txBox="1"/>
          <p:nvPr/>
        </p:nvSpPr>
        <p:spPr>
          <a:xfrm>
            <a:off x="0" y="0"/>
            <a:ext cx="91440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5276"/>
                </a:solidFill>
              </a:rPr>
              <a:t>3.4 ResNet-50 (Transfer Learning)</a:t>
            </a:r>
            <a:endParaRPr b="1">
              <a:solidFill>
                <a:srgbClr val="1A52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Tuning Strategy: </a:t>
            </a:r>
            <a:r>
              <a:rPr lang="en" sz="1100">
                <a:solidFill>
                  <a:srgbClr val="2C3E50"/>
                </a:solidFill>
              </a:rPr>
              <a:t>Two-stage training: frozen feature extraction with fresh classification head, followed by fine-tuning the last 30 layers. Images resized to 64×64 with ImageNet preprocessing.</a:t>
            </a:r>
            <a:endParaRPr sz="1100">
              <a:solidFill>
                <a:srgbClr val="2C3E50"/>
              </a:solidFill>
            </a:endParaRPr>
          </a:p>
        </p:txBody>
      </p:sp>
      <p:sp>
        <p:nvSpPr>
          <p:cNvPr id="621" name="Google Shape;621;p60"/>
          <p:cNvSpPr txBox="1"/>
          <p:nvPr/>
        </p:nvSpPr>
        <p:spPr>
          <a:xfrm>
            <a:off x="6536050" y="1085100"/>
            <a:ext cx="20874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Test Accuracy: </a:t>
            </a:r>
            <a:r>
              <a:rPr lang="en" sz="1100">
                <a:solidFill>
                  <a:srgbClr val="2C3E50"/>
                </a:solidFill>
              </a:rPr>
              <a:t>0.7280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F1-Score: </a:t>
            </a:r>
            <a:r>
              <a:rPr lang="en" sz="1100">
                <a:solidFill>
                  <a:srgbClr val="2C3E50"/>
                </a:solidFill>
              </a:rPr>
              <a:t>0.7250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rgbClr val="2C3E50"/>
                </a:solidFill>
              </a:rPr>
              <a:t>Training Time: </a:t>
            </a:r>
            <a:r>
              <a:rPr lang="en" sz="1100">
                <a:solidFill>
                  <a:srgbClr val="2C3E50"/>
                </a:solidFill>
              </a:rPr>
              <a:t>269.0 seconds</a:t>
            </a:r>
            <a:endParaRPr/>
          </a:p>
        </p:txBody>
      </p:sp>
      <p:pic>
        <p:nvPicPr>
          <p:cNvPr id="622" name="Google Shape;62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50" y="2695350"/>
            <a:ext cx="7443485" cy="22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7" name="Google Shape;627;p61"/>
          <p:cNvGraphicFramePr/>
          <p:nvPr/>
        </p:nvGraphicFramePr>
        <p:xfrm>
          <a:off x="226425" y="135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{6B562EA4-536A-4648-9349-CFE9C124C3F5}</a:tableStyleId>
              </a:tblPr>
              <a:tblGrid>
                <a:gridCol w="1095375"/>
                <a:gridCol w="933450"/>
                <a:gridCol w="933450"/>
                <a:gridCol w="885825"/>
                <a:gridCol w="885825"/>
                <a:gridCol w="942975"/>
              </a:tblGrid>
              <a:tr h="9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Model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Recall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Train Time (s)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CNN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0.9266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0.9298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0.9266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0.9266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71.6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ResNet-50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0.7280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0.7275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0.7280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0.7250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269.0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SVM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0.6554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0.6664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0.6554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0.6465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444.9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KNN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0.3378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0.3695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0.3378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0.3446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95.3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8" name="Google Shape;628;p61"/>
          <p:cNvSpPr txBox="1"/>
          <p:nvPr/>
        </p:nvSpPr>
        <p:spPr>
          <a:xfrm>
            <a:off x="0" y="0"/>
            <a:ext cx="818100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5276"/>
                </a:solidFill>
              </a:rPr>
              <a:t>4. Performance Visualization</a:t>
            </a:r>
            <a:endParaRPr b="1" sz="1800">
              <a:solidFill>
                <a:srgbClr val="1A52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C3E50"/>
                </a:solidFill>
              </a:rPr>
              <a:t>C</a:t>
            </a:r>
            <a:r>
              <a:rPr lang="en" sz="1100">
                <a:solidFill>
                  <a:srgbClr val="2C3E50"/>
                </a:solidFill>
              </a:rPr>
              <a:t>omparison of all four models across key performance metrics and training efficiency.</a:t>
            </a:r>
            <a:endParaRPr sz="11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800"/>
              </a:spcAft>
              <a:buNone/>
            </a:pPr>
            <a:r>
              <a:rPr b="1" lang="en">
                <a:solidFill>
                  <a:srgbClr val="1A5276"/>
                </a:solidFill>
              </a:rPr>
              <a:t>4.1 Final Comparison Table</a:t>
            </a:r>
            <a:endParaRPr b="1">
              <a:solidFill>
                <a:srgbClr val="1A5276"/>
              </a:solidFill>
            </a:endParaRPr>
          </a:p>
        </p:txBody>
      </p:sp>
      <p:pic>
        <p:nvPicPr>
          <p:cNvPr id="629" name="Google Shape;62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" y="2895200"/>
            <a:ext cx="5038447" cy="20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6747" y="3040700"/>
            <a:ext cx="3602829" cy="1785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2"/>
          <p:cNvSpPr txBox="1"/>
          <p:nvPr/>
        </p:nvSpPr>
        <p:spPr>
          <a:xfrm>
            <a:off x="0" y="0"/>
            <a:ext cx="9116700" cy="43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A5276"/>
                </a:solidFill>
              </a:rPr>
              <a:t>5. Conclusions</a:t>
            </a:r>
            <a:endParaRPr sz="10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A5276"/>
                </a:solidFill>
              </a:rPr>
              <a:t>5.1 Key Findings</a:t>
            </a:r>
            <a:endParaRPr b="1" sz="1300">
              <a:solidFill>
                <a:srgbClr val="1A527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/>
              <a:t>•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000">
                <a:solidFill>
                  <a:srgbClr val="2C3E50"/>
                </a:solidFill>
              </a:rPr>
              <a:t>CNN is the clear winner </a:t>
            </a:r>
            <a:r>
              <a:rPr lang="en" sz="1000">
                <a:solidFill>
                  <a:srgbClr val="2C3E50"/>
                </a:solidFill>
              </a:rPr>
              <a:t>with 92.66% accuracy and an F1-score of 0.9266, while training in only 71.6 seconds — the best accuracy-to-time trade-off among all models.</a:t>
            </a:r>
            <a:endParaRPr sz="10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/>
              <a:t>•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000">
                <a:solidFill>
                  <a:srgbClr val="2C3E50"/>
                </a:solidFill>
              </a:rPr>
              <a:t>ResNet-50 under-performed expectations </a:t>
            </a:r>
            <a:r>
              <a:rPr lang="en" sz="1000">
                <a:solidFill>
                  <a:srgbClr val="2C3E50"/>
                </a:solidFill>
              </a:rPr>
              <a:t>(72.80% accuracy). Resizing tiny 32×32 GTSRB images to 64×64 and using ImageNet-pretrained weights offered limited benefit due to the significant domain gap between ImageNet and traffic signs.</a:t>
            </a:r>
            <a:endParaRPr sz="10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/>
              <a:t>•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000">
                <a:solidFill>
                  <a:srgbClr val="2C3E50"/>
                </a:solidFill>
              </a:rPr>
              <a:t>SVM delivered reasonable traditional-ML results </a:t>
            </a:r>
            <a:r>
              <a:rPr lang="en" sz="1000">
                <a:solidFill>
                  <a:srgbClr val="2C3E50"/>
                </a:solidFill>
              </a:rPr>
              <a:t>(65.54%) using an RBF kernel with C = 10, but flattening images to 1-D vectors discards the spatial structure that CNNs naturally exploit.</a:t>
            </a:r>
            <a:endParaRPr sz="10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/>
              <a:t>•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000">
                <a:solidFill>
                  <a:srgbClr val="2C3E50"/>
                </a:solidFill>
              </a:rPr>
              <a:t>KNN struggled the most </a:t>
            </a:r>
            <a:r>
              <a:rPr lang="en" sz="1000">
                <a:solidFill>
                  <a:srgbClr val="2C3E50"/>
                </a:solidFill>
              </a:rPr>
              <a:t>(33.78%) because pixel-level Euclidean/Manhattan distance is a poor similarity metric for a 43-class image classification task.</a:t>
            </a:r>
            <a:endParaRPr sz="1000">
              <a:solidFill>
                <a:srgbClr val="2C3E5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A5276"/>
                </a:solidFill>
              </a:rPr>
              <a:t>5.2 Insights</a:t>
            </a:r>
            <a:endParaRPr b="1" sz="1300">
              <a:solidFill>
                <a:srgbClr val="1A527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/>
              <a:t>•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" sz="1000">
                <a:solidFill>
                  <a:srgbClr val="2C3E50"/>
                </a:solidFill>
              </a:rPr>
              <a:t>Spatial information matters: flattening images into 1-D vectors fundamentally limits traditional ML models (KNN, SVM) for image tasks, while CNNs preserve and leverage spatial structure through convolutional filters.</a:t>
            </a:r>
            <a:endParaRPr sz="10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/>
              <a:t>•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" sz="1000">
                <a:solidFill>
                  <a:srgbClr val="2C3E50"/>
                </a:solidFill>
              </a:rPr>
              <a:t>Data augmentation (rotation, zoom, brightness jitter) contributed significantly to the CNN's strong generalization performance.</a:t>
            </a:r>
            <a:endParaRPr sz="10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/>
              <a:t>•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" sz="1000">
                <a:solidFill>
                  <a:srgbClr val="2C3E50"/>
                </a:solidFill>
              </a:rPr>
              <a:t>Transfer learning is not always superior: when the source domain (ImageNet) is very different from the target domain (traffic signs) and input resolution is severely limited, a well-designed custom architecture can outperform a pre-trained heavyweight model.</a:t>
            </a:r>
            <a:endParaRPr sz="1000">
              <a:solidFill>
                <a:srgbClr val="2C3E5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000"/>
              <a:t>•</a:t>
            </a:r>
            <a:r>
              <a:rPr lang="en" sz="6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" sz="1000">
                <a:solidFill>
                  <a:srgbClr val="2C3E50"/>
                </a:solidFill>
              </a:rPr>
              <a:t>A larger input resolution (224×224) and a longer fine-tuning schedule could significantly improve ResNet-50's results in future work.</a:t>
            </a:r>
            <a:endParaRPr sz="1000">
              <a:solidFill>
                <a:srgbClr val="2C3E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0" name="Google Shape;640;p63"/>
          <p:cNvGraphicFramePr/>
          <p:nvPr/>
        </p:nvGraphicFramePr>
        <p:xfrm>
          <a:off x="1173475" y="131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{6B562EA4-536A-4648-9349-CFE9C124C3F5}</a:tableStyleId>
              </a:tblPr>
              <a:tblGrid>
                <a:gridCol w="693625"/>
                <a:gridCol w="1451300"/>
                <a:gridCol w="1195175"/>
                <a:gridCol w="3318775"/>
              </a:tblGrid>
              <a:tr h="341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Rank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86C1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Custom CNN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92.66%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Best overall, highest accuracy, fastest training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ResNet-50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72.80%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Limited by low resolution and domain gap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SVM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65.54%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Best traditional ML, but lacks spatial awareness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B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KNN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33.78%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Pixel distance is too naive for image classification</a:t>
                      </a:r>
                      <a:endParaRPr sz="1000"/>
                    </a:p>
                  </a:txBody>
                  <a:tcPr marT="38100" marB="38100" marR="63500" marL="63500">
                    <a:lnL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1" name="Google Shape;641;p63"/>
          <p:cNvSpPr txBox="1"/>
          <p:nvPr/>
        </p:nvSpPr>
        <p:spPr>
          <a:xfrm>
            <a:off x="2469525" y="409650"/>
            <a:ext cx="320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800"/>
              </a:spcAft>
              <a:buNone/>
            </a:pPr>
            <a:r>
              <a:rPr b="1" lang="en" sz="2600">
                <a:solidFill>
                  <a:srgbClr val="1A5276"/>
                </a:solidFill>
              </a:rPr>
              <a:t>Final Conclusions</a:t>
            </a:r>
            <a:endParaRPr b="1" sz="2600">
              <a:solidFill>
                <a:srgbClr val="1A5276"/>
              </a:solidFill>
            </a:endParaRPr>
          </a:p>
        </p:txBody>
      </p:sp>
      <p:sp>
        <p:nvSpPr>
          <p:cNvPr id="642" name="Google Shape;642;p63"/>
          <p:cNvSpPr txBox="1"/>
          <p:nvPr/>
        </p:nvSpPr>
        <p:spPr>
          <a:xfrm>
            <a:off x="161250" y="3619650"/>
            <a:ext cx="88215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100">
                <a:solidFill>
                  <a:srgbClr val="2C3E50"/>
                </a:solidFill>
              </a:rPr>
              <a:t>In conclusion, for the GTSRB traffic sign classification task, a custom CNN architecture with appropriate data augmentation delivers the best combination of accuracy and efficiency, and is the recommended approach for deployment in real-world traffic sign recognition systems.</a:t>
            </a:r>
            <a:endParaRPr sz="1100">
              <a:solidFill>
                <a:srgbClr val="2C3E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4"/>
          <p:cNvSpPr txBox="1"/>
          <p:nvPr/>
        </p:nvSpPr>
        <p:spPr>
          <a:xfrm>
            <a:off x="900850" y="1937750"/>
            <a:ext cx="7165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4400">
                <a:solidFill>
                  <a:srgbClr val="2C3E50"/>
                </a:solidFill>
              </a:rPr>
              <a:t>Questions? … Thank you!</a:t>
            </a:r>
            <a:endParaRPr b="1" sz="4400">
              <a:solidFill>
                <a:srgbClr val="2C3E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